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153536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66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680588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08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3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82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90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60739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93078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3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05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7689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8786" y="182880"/>
            <a:ext cx="109969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F3B5C"/>
                </a:solidFill>
              </a:rPr>
              <a:t>Africa Delivery - </a:t>
            </a:r>
            <a:r>
              <a:rPr sz="3000" b="1" dirty="0" err="1">
                <a:solidFill>
                  <a:srgbClr val="1F3B5C"/>
                </a:solidFill>
              </a:rPr>
              <a:t>архитектура</a:t>
            </a:r>
            <a:r>
              <a:rPr sz="3000" b="1" dirty="0">
                <a:solidFill>
                  <a:srgbClr val="1F3B5C"/>
                </a:solidFill>
              </a:rPr>
              <a:t> </a:t>
            </a:r>
            <a:r>
              <a:rPr sz="3000" b="1" dirty="0" err="1">
                <a:solidFill>
                  <a:srgbClr val="1F3B5C"/>
                </a:solidFill>
              </a:rPr>
              <a:t>пилота</a:t>
            </a:r>
            <a:r>
              <a:rPr lang="ru-RU" sz="3000" b="1" dirty="0">
                <a:solidFill>
                  <a:srgbClr val="1F3B5C"/>
                </a:solidFill>
              </a:rPr>
              <a:t> в срок 15.10 при бюджете </a:t>
            </a:r>
            <a:r>
              <a:rPr lang="en-US" sz="3000" b="1" dirty="0">
                <a:solidFill>
                  <a:srgbClr val="1F3B5C"/>
                </a:solidFill>
              </a:rPr>
              <a:t>$5k</a:t>
            </a:r>
            <a:r>
              <a:rPr lang="ru-RU" sz="3000" b="1" dirty="0">
                <a:solidFill>
                  <a:srgbClr val="1F3B5C"/>
                </a:solidFill>
              </a:rPr>
              <a:t>/</a:t>
            </a:r>
            <a:r>
              <a:rPr lang="ru-RU" sz="3000" b="1" dirty="0" err="1">
                <a:solidFill>
                  <a:srgbClr val="1F3B5C"/>
                </a:solidFill>
              </a:rPr>
              <a:t>мес</a:t>
            </a:r>
            <a:endParaRPr sz="3000" b="1" dirty="0">
              <a:solidFill>
                <a:srgbClr val="1F3B5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98786" y="1503610"/>
            <a:ext cx="358613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2E7D32"/>
                </a:solidFill>
              </a:rPr>
              <a:t>РЕШЕНИЕ: </a:t>
            </a:r>
            <a:br>
              <a:rPr lang="ru-RU" sz="1700" b="1" dirty="0">
                <a:solidFill>
                  <a:srgbClr val="2E7D32"/>
                </a:solidFill>
              </a:rPr>
            </a:br>
            <a:r>
              <a:rPr sz="1700" b="1" dirty="0" err="1">
                <a:solidFill>
                  <a:srgbClr val="2E7D32"/>
                </a:solidFill>
              </a:rPr>
              <a:t>модульный</a:t>
            </a:r>
            <a:r>
              <a:rPr sz="1700" b="1" dirty="0">
                <a:solidFill>
                  <a:srgbClr val="2E7D32"/>
                </a:solidFill>
              </a:rPr>
              <a:t> </a:t>
            </a:r>
            <a:r>
              <a:rPr sz="1700" b="1" dirty="0" err="1">
                <a:solidFill>
                  <a:srgbClr val="2E7D32"/>
                </a:solidFill>
              </a:rPr>
              <a:t>монолит</a:t>
            </a:r>
            <a:r>
              <a:rPr sz="1700" b="1" dirty="0">
                <a:solidFill>
                  <a:srgbClr val="2E7D32"/>
                </a:solidFill>
              </a:rPr>
              <a:t> (</a:t>
            </a:r>
            <a:r>
              <a:rPr sz="1700" b="1" dirty="0" err="1">
                <a:solidFill>
                  <a:srgbClr val="2E7D32"/>
                </a:solidFill>
              </a:rPr>
              <a:t>вариант</a:t>
            </a:r>
            <a:r>
              <a:rPr sz="1700" b="1" dirty="0">
                <a:solidFill>
                  <a:srgbClr val="2E7D32"/>
                </a:solidFill>
              </a:rPr>
              <a:t>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786" y="2302044"/>
            <a:ext cx="358613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444444"/>
                </a:solidFill>
              </a:rPr>
              <a:t>Go-</a:t>
            </a:r>
            <a:r>
              <a:rPr sz="1300" dirty="0" err="1">
                <a:solidFill>
                  <a:srgbClr val="444444"/>
                </a:solidFill>
              </a:rPr>
              <a:t>монолит</a:t>
            </a:r>
            <a:r>
              <a:rPr sz="1300" dirty="0">
                <a:solidFill>
                  <a:srgbClr val="444444"/>
                </a:solidFill>
              </a:rPr>
              <a:t>, </a:t>
            </a:r>
            <a:r>
              <a:rPr sz="1300" dirty="0" err="1">
                <a:solidFill>
                  <a:srgbClr val="444444"/>
                </a:solidFill>
              </a:rPr>
              <a:t>модули</a:t>
            </a:r>
            <a:r>
              <a:rPr sz="1300" dirty="0">
                <a:solidFill>
                  <a:srgbClr val="444444"/>
                </a:solidFill>
              </a:rPr>
              <a:t>: </a:t>
            </a:r>
            <a:r>
              <a:rPr sz="1300" dirty="0" err="1">
                <a:solidFill>
                  <a:srgbClr val="444444"/>
                </a:solidFill>
              </a:rPr>
              <a:t>каталог</a:t>
            </a:r>
            <a:r>
              <a:rPr sz="1300" dirty="0">
                <a:solidFill>
                  <a:srgbClr val="444444"/>
                </a:solidFill>
              </a:rPr>
              <a:t>, </a:t>
            </a:r>
            <a:r>
              <a:rPr sz="1300" dirty="0" err="1">
                <a:solidFill>
                  <a:srgbClr val="444444"/>
                </a:solidFill>
              </a:rPr>
              <a:t>заказ</a:t>
            </a:r>
            <a:r>
              <a:rPr sz="1300" dirty="0">
                <a:solidFill>
                  <a:srgbClr val="444444"/>
                </a:solidFill>
              </a:rPr>
              <a:t>, </a:t>
            </a:r>
            <a:r>
              <a:rPr sz="1300" dirty="0" err="1">
                <a:solidFill>
                  <a:srgbClr val="444444"/>
                </a:solidFill>
              </a:rPr>
              <a:t>платежи</a:t>
            </a:r>
            <a:r>
              <a:rPr sz="1300" dirty="0">
                <a:solidFill>
                  <a:srgbClr val="444444"/>
                </a:solidFill>
              </a:rPr>
              <a:t>, </a:t>
            </a:r>
            <a:r>
              <a:rPr sz="1300" dirty="0" err="1">
                <a:solidFill>
                  <a:srgbClr val="444444"/>
                </a:solidFill>
              </a:rPr>
              <a:t>уведомления</a:t>
            </a:r>
            <a:r>
              <a:rPr sz="1300" dirty="0">
                <a:solidFill>
                  <a:srgbClr val="444444"/>
                </a:solidFill>
              </a:rPr>
              <a:t>, </a:t>
            </a:r>
            <a:r>
              <a:rPr sz="1300" dirty="0" err="1">
                <a:solidFill>
                  <a:srgbClr val="444444"/>
                </a:solidFill>
              </a:rPr>
              <a:t>интеграции</a:t>
            </a:r>
            <a:endParaRPr sz="1300" dirty="0">
              <a:solidFill>
                <a:srgbClr val="444444"/>
              </a:solidFill>
            </a:endParaRPr>
          </a:p>
          <a:p>
            <a:r>
              <a:rPr sz="1300" dirty="0">
                <a:solidFill>
                  <a:srgbClr val="444444"/>
                </a:solidFill>
              </a:rPr>
              <a:t>PostgreSQL + managed</a:t>
            </a:r>
            <a:r>
              <a:rPr lang="ru-RU"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сервисы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одного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облака</a:t>
            </a:r>
            <a:endParaRPr sz="1300" dirty="0">
              <a:solidFill>
                <a:srgbClr val="444444"/>
              </a:solidFill>
            </a:endParaRPr>
          </a:p>
          <a:p>
            <a:r>
              <a:rPr sz="1300" dirty="0" err="1">
                <a:solidFill>
                  <a:srgbClr val="444444"/>
                </a:solidFill>
              </a:rPr>
              <a:t>ПДн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Нигерии</a:t>
            </a:r>
            <a:r>
              <a:rPr sz="1300" dirty="0">
                <a:solidFill>
                  <a:srgbClr val="444444"/>
                </a:solidFill>
              </a:rPr>
              <a:t> - </a:t>
            </a:r>
            <a:r>
              <a:rPr sz="1300" dirty="0" err="1">
                <a:solidFill>
                  <a:srgbClr val="444444"/>
                </a:solidFill>
              </a:rPr>
              <a:t>локально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в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>
                <a:solidFill>
                  <a:srgbClr val="444444"/>
                </a:solidFill>
              </a:rPr>
              <a:t>стране</a:t>
            </a:r>
            <a:endParaRPr sz="1300" dirty="0">
              <a:solidFill>
                <a:srgbClr val="444444"/>
              </a:solidFill>
            </a:endParaRPr>
          </a:p>
          <a:p>
            <a:r>
              <a:rPr sz="1300" dirty="0" err="1">
                <a:solidFill>
                  <a:srgbClr val="444444"/>
                </a:solidFill>
              </a:rPr>
              <a:t>Платежи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и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логистика</a:t>
            </a:r>
            <a:r>
              <a:rPr sz="1300" dirty="0">
                <a:solidFill>
                  <a:srgbClr val="444444"/>
                </a:solidFill>
              </a:rPr>
              <a:t> - </a:t>
            </a:r>
            <a:r>
              <a:rPr sz="1300" dirty="0" err="1">
                <a:solidFill>
                  <a:srgbClr val="444444"/>
                </a:solidFill>
              </a:rPr>
              <a:t>партнеры</a:t>
            </a:r>
            <a:r>
              <a:rPr sz="1300" dirty="0">
                <a:solidFill>
                  <a:srgbClr val="444444"/>
                </a:solidFill>
              </a:rPr>
              <a:t>: M-</a:t>
            </a:r>
            <a:r>
              <a:rPr sz="1300" dirty="0" err="1">
                <a:solidFill>
                  <a:srgbClr val="444444"/>
                </a:solidFill>
              </a:rPr>
              <a:t>Pesa</a:t>
            </a:r>
            <a:r>
              <a:rPr sz="1300" dirty="0">
                <a:solidFill>
                  <a:srgbClr val="444444"/>
                </a:solidFill>
              </a:rPr>
              <a:t>, </a:t>
            </a:r>
            <a:r>
              <a:rPr sz="1300" dirty="0" err="1">
                <a:solidFill>
                  <a:srgbClr val="444444"/>
                </a:solidFill>
              </a:rPr>
              <a:t>Flutterwave</a:t>
            </a:r>
            <a:r>
              <a:rPr sz="1300" dirty="0">
                <a:solidFill>
                  <a:srgbClr val="444444"/>
                </a:solidFill>
              </a:rPr>
              <a:t>, </a:t>
            </a:r>
            <a:r>
              <a:rPr sz="1300" dirty="0" err="1">
                <a:solidFill>
                  <a:srgbClr val="444444"/>
                </a:solidFill>
              </a:rPr>
              <a:t>Sendbox</a:t>
            </a:r>
            <a:r>
              <a:rPr sz="1300" dirty="0">
                <a:solidFill>
                  <a:srgbClr val="444444"/>
                </a:solidFill>
              </a:rPr>
              <a:t>, </a:t>
            </a:r>
            <a:r>
              <a:rPr sz="1300" dirty="0" err="1">
                <a:solidFill>
                  <a:srgbClr val="444444"/>
                </a:solidFill>
              </a:rPr>
              <a:t>Sendy</a:t>
            </a:r>
            <a:endParaRPr sz="1300" dirty="0">
              <a:solidFill>
                <a:srgbClr val="444444"/>
              </a:solidFill>
            </a:endParaRPr>
          </a:p>
          <a:p>
            <a:r>
              <a:rPr sz="1300" dirty="0" err="1">
                <a:solidFill>
                  <a:srgbClr val="444444"/>
                </a:solidFill>
              </a:rPr>
              <a:t>Границы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модулей</a:t>
            </a:r>
            <a:r>
              <a:rPr sz="1300" dirty="0">
                <a:solidFill>
                  <a:srgbClr val="444444"/>
                </a:solidFill>
              </a:rPr>
              <a:t> = </a:t>
            </a:r>
            <a:r>
              <a:rPr sz="1300" dirty="0" err="1">
                <a:solidFill>
                  <a:srgbClr val="444444"/>
                </a:solidFill>
              </a:rPr>
              <a:t>границы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будущих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сервисов</a:t>
            </a:r>
            <a:endParaRPr sz="1300" dirty="0">
              <a:solidFill>
                <a:srgbClr val="444444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6320" y="149743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F3B5C"/>
                </a:solidFill>
              </a:rPr>
              <a:t>ТРИ ВАРИАНТА (TCO 5 </a:t>
            </a:r>
            <a:r>
              <a:rPr sz="1700" b="1" dirty="0" err="1">
                <a:solidFill>
                  <a:srgbClr val="1F3B5C"/>
                </a:solidFill>
              </a:rPr>
              <a:t>лет</a:t>
            </a:r>
            <a:r>
              <a:rPr sz="1700" b="1" dirty="0">
                <a:solidFill>
                  <a:srgbClr val="1F3B5C"/>
                </a:solidFill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108031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2E7D32"/>
                </a:solidFill>
              </a:rPr>
              <a:t>A. </a:t>
            </a:r>
            <a:r>
              <a:rPr sz="1200" dirty="0" err="1">
                <a:solidFill>
                  <a:srgbClr val="2E7D32"/>
                </a:solidFill>
              </a:rPr>
              <a:t>Монолит</a:t>
            </a:r>
            <a:r>
              <a:rPr sz="1200" dirty="0">
                <a:solidFill>
                  <a:srgbClr val="2E7D32"/>
                </a:solidFill>
              </a:rPr>
              <a:t>: </a:t>
            </a:r>
            <a:r>
              <a:rPr sz="1200" dirty="0" err="1">
                <a:solidFill>
                  <a:srgbClr val="2E7D32"/>
                </a:solidFill>
              </a:rPr>
              <a:t>облако</a:t>
            </a:r>
            <a:r>
              <a:rPr sz="1200" dirty="0">
                <a:solidFill>
                  <a:srgbClr val="2E7D32"/>
                </a:solidFill>
              </a:rPr>
              <a:t> $2,4k/</a:t>
            </a:r>
            <a:r>
              <a:rPr sz="1200" dirty="0" err="1">
                <a:solidFill>
                  <a:srgbClr val="2E7D32"/>
                </a:solidFill>
              </a:rPr>
              <a:t>мес</a:t>
            </a:r>
            <a:r>
              <a:rPr sz="1200" dirty="0">
                <a:solidFill>
                  <a:srgbClr val="2E7D32"/>
                </a:solidFill>
              </a:rPr>
              <a:t>, TCO $43,9M, </a:t>
            </a:r>
            <a:r>
              <a:rPr sz="1200" dirty="0" err="1">
                <a:solidFill>
                  <a:srgbClr val="2E7D32"/>
                </a:solidFill>
              </a:rPr>
              <a:t>срок</a:t>
            </a:r>
            <a:r>
              <a:rPr sz="1200" dirty="0">
                <a:solidFill>
                  <a:srgbClr val="2E7D32"/>
                </a:solidFill>
              </a:rPr>
              <a:t> 8 </a:t>
            </a:r>
            <a:r>
              <a:rPr sz="1200" dirty="0" err="1">
                <a:solidFill>
                  <a:srgbClr val="2E7D32"/>
                </a:solidFill>
              </a:rPr>
              <a:t>недель</a:t>
            </a:r>
            <a:endParaRPr sz="1200" dirty="0">
              <a:solidFill>
                <a:srgbClr val="2E7D3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46320" y="26289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B71C1C"/>
                </a:solidFill>
              </a:rPr>
              <a:t>B. </a:t>
            </a:r>
            <a:r>
              <a:rPr sz="1200" dirty="0" err="1">
                <a:solidFill>
                  <a:srgbClr val="B71C1C"/>
                </a:solidFill>
              </a:rPr>
              <a:t>Микросервисы</a:t>
            </a:r>
            <a:r>
              <a:rPr sz="1200" dirty="0">
                <a:solidFill>
                  <a:srgbClr val="B71C1C"/>
                </a:solidFill>
              </a:rPr>
              <a:t> (CTO): </a:t>
            </a:r>
            <a:r>
              <a:rPr sz="1200" dirty="0" err="1">
                <a:solidFill>
                  <a:srgbClr val="B71C1C"/>
                </a:solidFill>
              </a:rPr>
              <a:t>облако</a:t>
            </a:r>
            <a:r>
              <a:rPr sz="1200" dirty="0">
                <a:solidFill>
                  <a:srgbClr val="B71C1C"/>
                </a:solidFill>
              </a:rPr>
              <a:t> $13,9k/</a:t>
            </a:r>
            <a:r>
              <a:rPr sz="1200" dirty="0" err="1">
                <a:solidFill>
                  <a:srgbClr val="B71C1C"/>
                </a:solidFill>
              </a:rPr>
              <a:t>мес</a:t>
            </a:r>
            <a:r>
              <a:rPr sz="1200" dirty="0">
                <a:solidFill>
                  <a:srgbClr val="B71C1C"/>
                </a:solidFill>
              </a:rPr>
              <a:t>, TCO $56,5M, </a:t>
            </a:r>
            <a:r>
              <a:rPr sz="1200" dirty="0" err="1">
                <a:solidFill>
                  <a:srgbClr val="B71C1C"/>
                </a:solidFill>
              </a:rPr>
              <a:t>срок</a:t>
            </a:r>
            <a:r>
              <a:rPr sz="1200" dirty="0">
                <a:solidFill>
                  <a:srgbClr val="B71C1C"/>
                </a:solidFill>
              </a:rPr>
              <a:t> 5-6+ </a:t>
            </a:r>
            <a:r>
              <a:rPr sz="1200" dirty="0" err="1">
                <a:solidFill>
                  <a:srgbClr val="B71C1C"/>
                </a:solidFill>
              </a:rPr>
              <a:t>мес</a:t>
            </a:r>
            <a:endParaRPr sz="1200" dirty="0">
              <a:solidFill>
                <a:srgbClr val="B71C1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6320" y="3090567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444444"/>
                </a:solidFill>
              </a:rPr>
              <a:t>C. </a:t>
            </a:r>
            <a:r>
              <a:rPr sz="1200" dirty="0" err="1">
                <a:solidFill>
                  <a:srgbClr val="444444"/>
                </a:solidFill>
              </a:rPr>
              <a:t>Макросервисы</a:t>
            </a:r>
            <a:r>
              <a:rPr sz="1200" dirty="0">
                <a:solidFill>
                  <a:srgbClr val="444444"/>
                </a:solidFill>
              </a:rPr>
              <a:t>: </a:t>
            </a:r>
            <a:r>
              <a:rPr sz="1200" dirty="0" err="1">
                <a:solidFill>
                  <a:srgbClr val="444444"/>
                </a:solidFill>
              </a:rPr>
              <a:t>облако</a:t>
            </a:r>
            <a:r>
              <a:rPr sz="1200" dirty="0">
                <a:solidFill>
                  <a:srgbClr val="444444"/>
                </a:solidFill>
              </a:rPr>
              <a:t> $3,9k/</a:t>
            </a:r>
            <a:r>
              <a:rPr sz="1200" dirty="0" err="1">
                <a:solidFill>
                  <a:srgbClr val="444444"/>
                </a:solidFill>
              </a:rPr>
              <a:t>мес</a:t>
            </a:r>
            <a:r>
              <a:rPr sz="1200" dirty="0">
                <a:solidFill>
                  <a:srgbClr val="444444"/>
                </a:solidFill>
              </a:rPr>
              <a:t>, TCO $46,5M, </a:t>
            </a:r>
            <a:r>
              <a:rPr sz="1200" dirty="0" err="1">
                <a:solidFill>
                  <a:srgbClr val="444444"/>
                </a:solidFill>
              </a:rPr>
              <a:t>срок</a:t>
            </a:r>
            <a:r>
              <a:rPr sz="1200" dirty="0">
                <a:solidFill>
                  <a:srgbClr val="444444"/>
                </a:solidFill>
              </a:rPr>
              <a:t> 9-10 </a:t>
            </a:r>
            <a:r>
              <a:rPr sz="1200" dirty="0" err="1">
                <a:solidFill>
                  <a:srgbClr val="444444"/>
                </a:solidFill>
              </a:rPr>
              <a:t>недель</a:t>
            </a:r>
            <a:endParaRPr sz="1200" dirty="0">
              <a:solidFill>
                <a:srgbClr val="44444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0" y="3657600"/>
            <a:ext cx="38404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444444"/>
                </a:solidFill>
              </a:rPr>
              <a:t>CFO: </a:t>
            </a:r>
            <a:r>
              <a:rPr sz="1300" dirty="0" err="1">
                <a:solidFill>
                  <a:srgbClr val="444444"/>
                </a:solidFill>
              </a:rPr>
              <a:t>облако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год</a:t>
            </a:r>
            <a:r>
              <a:rPr sz="1300" dirty="0">
                <a:solidFill>
                  <a:srgbClr val="444444"/>
                </a:solidFill>
              </a:rPr>
              <a:t> 1 - $2 450/</a:t>
            </a:r>
            <a:r>
              <a:rPr sz="1300" dirty="0" err="1">
                <a:solidFill>
                  <a:srgbClr val="444444"/>
                </a:solidFill>
              </a:rPr>
              <a:t>мес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при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потолке</a:t>
            </a:r>
            <a:r>
              <a:rPr sz="1300" dirty="0">
                <a:solidFill>
                  <a:srgbClr val="444444"/>
                </a:solidFill>
              </a:rPr>
              <a:t> $5</a:t>
            </a:r>
            <a:r>
              <a:rPr lang="en-US" sz="1300" dirty="0">
                <a:solidFill>
                  <a:srgbClr val="444444"/>
                </a:solidFill>
              </a:rPr>
              <a:t>k/</a:t>
            </a:r>
            <a:r>
              <a:rPr lang="ru-RU" sz="1300" dirty="0" err="1">
                <a:solidFill>
                  <a:srgbClr val="444444"/>
                </a:solidFill>
              </a:rPr>
              <a:t>мес</a:t>
            </a:r>
            <a:r>
              <a:rPr sz="1300" dirty="0">
                <a:solidFill>
                  <a:srgbClr val="444444"/>
                </a:solidFill>
              </a:rPr>
              <a:t> </a:t>
            </a:r>
            <a:br>
              <a:rPr lang="ru-RU" sz="1300" dirty="0">
                <a:solidFill>
                  <a:srgbClr val="444444"/>
                </a:solidFill>
              </a:rPr>
            </a:br>
            <a:r>
              <a:rPr sz="1300" dirty="0" err="1">
                <a:solidFill>
                  <a:srgbClr val="444444"/>
                </a:solidFill>
              </a:rPr>
              <a:t>Стоимость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заказа</a:t>
            </a:r>
            <a:r>
              <a:rPr sz="1300" dirty="0">
                <a:solidFill>
                  <a:srgbClr val="444444"/>
                </a:solidFill>
              </a:rPr>
              <a:t>: $1,60 (ИТ = 7,5% GMV)</a:t>
            </a:r>
          </a:p>
          <a:p>
            <a:r>
              <a:rPr sz="1300" dirty="0" err="1">
                <a:solidFill>
                  <a:srgbClr val="444444"/>
                </a:solidFill>
              </a:rPr>
              <a:t>Ошибка</a:t>
            </a:r>
            <a:r>
              <a:rPr sz="1300" dirty="0">
                <a:solidFill>
                  <a:srgbClr val="444444"/>
                </a:solidFill>
              </a:rPr>
              <a:t> </a:t>
            </a:r>
            <a:r>
              <a:rPr sz="1300" dirty="0" err="1">
                <a:solidFill>
                  <a:srgbClr val="444444"/>
                </a:solidFill>
              </a:rPr>
              <a:t>масштаба</a:t>
            </a:r>
            <a:r>
              <a:rPr sz="1300" dirty="0">
                <a:solidFill>
                  <a:srgbClr val="444444"/>
                </a:solidFill>
              </a:rPr>
              <a:t>: $30k (A) </a:t>
            </a:r>
            <a:r>
              <a:rPr sz="1300" dirty="0" err="1">
                <a:solidFill>
                  <a:srgbClr val="444444"/>
                </a:solidFill>
              </a:rPr>
              <a:t>против</a:t>
            </a:r>
            <a:r>
              <a:rPr sz="1300" dirty="0">
                <a:solidFill>
                  <a:srgbClr val="444444"/>
                </a:solidFill>
              </a:rPr>
              <a:t> $700-800k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49221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F3B5C"/>
                </a:solidFill>
              </a:rPr>
              <a:t>ЧТО НЕ ДЕЛАЕМ СЕЙЧАС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103120"/>
            <a:ext cx="3017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444444"/>
                </a:solidFill>
              </a:rPr>
              <a:t>- </a:t>
            </a:r>
            <a:r>
              <a:rPr sz="1200" dirty="0" err="1">
                <a:solidFill>
                  <a:srgbClr val="444444"/>
                </a:solidFill>
              </a:rPr>
              <a:t>Микросервисы</a:t>
            </a:r>
            <a:r>
              <a:rPr sz="1200" dirty="0">
                <a:solidFill>
                  <a:srgbClr val="444444"/>
                </a:solidFill>
              </a:rPr>
              <a:t>, Kafka, Istio - </a:t>
            </a:r>
            <a:r>
              <a:rPr sz="1200" dirty="0" err="1">
                <a:solidFill>
                  <a:srgbClr val="444444"/>
                </a:solidFill>
              </a:rPr>
              <a:t>до</a:t>
            </a:r>
            <a:r>
              <a:rPr sz="1200" dirty="0">
                <a:solidFill>
                  <a:srgbClr val="444444"/>
                </a:solidFill>
              </a:rPr>
              <a:t> 3M </a:t>
            </a:r>
            <a:r>
              <a:rPr sz="1200" dirty="0" err="1">
                <a:solidFill>
                  <a:srgbClr val="444444"/>
                </a:solidFill>
              </a:rPr>
              <a:t>пользователей</a:t>
            </a:r>
            <a:r>
              <a:rPr sz="1200" dirty="0">
                <a:solidFill>
                  <a:srgbClr val="444444"/>
                </a:solidFill>
              </a:rPr>
              <a:t> (</a:t>
            </a:r>
            <a:r>
              <a:rPr sz="1200" dirty="0" err="1">
                <a:solidFill>
                  <a:srgbClr val="444444"/>
                </a:solidFill>
              </a:rPr>
              <a:t>год</a:t>
            </a:r>
            <a:r>
              <a:rPr sz="1200" dirty="0">
                <a:solidFill>
                  <a:srgbClr val="444444"/>
                </a:solidFill>
              </a:rPr>
              <a:t> 2)</a:t>
            </a:r>
          </a:p>
          <a:p>
            <a:r>
              <a:rPr lang="ru-RU" sz="1200" dirty="0">
                <a:solidFill>
                  <a:srgbClr val="444444"/>
                </a:solidFill>
              </a:rPr>
              <a:t>- </a:t>
            </a:r>
            <a:r>
              <a:rPr sz="1200" dirty="0" err="1">
                <a:solidFill>
                  <a:srgbClr val="444444"/>
                </a:solidFill>
              </a:rPr>
              <a:t>Своя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логистика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и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платежи</a:t>
            </a:r>
            <a:r>
              <a:rPr sz="1200" dirty="0">
                <a:solidFill>
                  <a:srgbClr val="444444"/>
                </a:solidFill>
              </a:rPr>
              <a:t> - </a:t>
            </a:r>
            <a:r>
              <a:rPr sz="1200" dirty="0" err="1">
                <a:solidFill>
                  <a:srgbClr val="444444"/>
                </a:solidFill>
              </a:rPr>
              <a:t>партнеры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по</a:t>
            </a:r>
            <a:r>
              <a:rPr sz="1200" dirty="0">
                <a:solidFill>
                  <a:srgbClr val="444444"/>
                </a:solidFill>
              </a:rPr>
              <a:t> API</a:t>
            </a:r>
          </a:p>
          <a:p>
            <a:r>
              <a:rPr lang="ru-RU" sz="1200" dirty="0">
                <a:solidFill>
                  <a:srgbClr val="444444"/>
                </a:solidFill>
              </a:rPr>
              <a:t>- </a:t>
            </a:r>
            <a:r>
              <a:rPr sz="1200" dirty="0">
                <a:solidFill>
                  <a:srgbClr val="444444"/>
                </a:solidFill>
              </a:rPr>
              <a:t>Oracle - </a:t>
            </a:r>
            <a:r>
              <a:rPr sz="1200" dirty="0" err="1">
                <a:solidFill>
                  <a:srgbClr val="444444"/>
                </a:solidFill>
              </a:rPr>
              <a:t>лицензии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и</a:t>
            </a:r>
            <a:r>
              <a:rPr sz="1200" dirty="0">
                <a:solidFill>
                  <a:srgbClr val="444444"/>
                </a:solidFill>
              </a:rPr>
              <a:t> lock-in</a:t>
            </a:r>
          </a:p>
          <a:p>
            <a:r>
              <a:rPr lang="ru-RU" sz="1200" dirty="0">
                <a:solidFill>
                  <a:srgbClr val="444444"/>
                </a:solidFill>
              </a:rPr>
              <a:t>- </a:t>
            </a:r>
            <a:r>
              <a:rPr sz="1200" dirty="0" err="1">
                <a:solidFill>
                  <a:srgbClr val="444444"/>
                </a:solidFill>
              </a:rPr>
              <a:t>Мульти-облако</a:t>
            </a:r>
            <a:r>
              <a:rPr sz="1200" dirty="0">
                <a:solidFill>
                  <a:srgbClr val="444444"/>
                </a:solidFill>
              </a:rPr>
              <a:t> - </a:t>
            </a:r>
            <a:r>
              <a:rPr sz="1200" dirty="0" err="1">
                <a:solidFill>
                  <a:srgbClr val="444444"/>
                </a:solidFill>
              </a:rPr>
              <a:t>год</a:t>
            </a:r>
            <a:r>
              <a:rPr sz="1200" dirty="0">
                <a:solidFill>
                  <a:srgbClr val="444444"/>
                </a:solidFill>
              </a:rPr>
              <a:t> 2, </a:t>
            </a:r>
            <a:r>
              <a:rPr sz="1200" dirty="0" err="1">
                <a:solidFill>
                  <a:srgbClr val="444444"/>
                </a:solidFill>
              </a:rPr>
              <a:t>IaC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как</a:t>
            </a:r>
            <a:r>
              <a:rPr sz="1200" dirty="0">
                <a:solidFill>
                  <a:srgbClr val="444444"/>
                </a:solidFill>
              </a:rPr>
              <a:t> exit-</a:t>
            </a:r>
            <a:r>
              <a:rPr sz="1200" dirty="0" err="1">
                <a:solidFill>
                  <a:srgbClr val="444444"/>
                </a:solidFill>
              </a:rPr>
              <a:t>план</a:t>
            </a:r>
            <a:endParaRPr sz="1200" dirty="0">
              <a:solidFill>
                <a:srgbClr val="444444"/>
              </a:solidFill>
            </a:endParaRPr>
          </a:p>
          <a:p>
            <a:r>
              <a:rPr lang="ru-RU" sz="1200" dirty="0">
                <a:solidFill>
                  <a:srgbClr val="444444"/>
                </a:solidFill>
              </a:rPr>
              <a:t>- </a:t>
            </a:r>
            <a:r>
              <a:rPr sz="1200" dirty="0" err="1">
                <a:solidFill>
                  <a:srgbClr val="444444"/>
                </a:solidFill>
              </a:rPr>
              <a:t>Блокчейн-лояльность</a:t>
            </a:r>
            <a:r>
              <a:rPr sz="1200" dirty="0">
                <a:solidFill>
                  <a:srgbClr val="444444"/>
                </a:solidFill>
              </a:rPr>
              <a:t> - </a:t>
            </a:r>
            <a:r>
              <a:rPr sz="1200" dirty="0" err="1">
                <a:solidFill>
                  <a:srgbClr val="444444"/>
                </a:solidFill>
              </a:rPr>
              <a:t>изучаем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после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запуска</a:t>
            </a:r>
            <a:endParaRPr sz="1200" dirty="0">
              <a:solidFill>
                <a:srgbClr val="444444"/>
              </a:solidFill>
            </a:endParaRPr>
          </a:p>
          <a:p>
            <a:r>
              <a:rPr lang="ru-RU" sz="1200" dirty="0">
                <a:solidFill>
                  <a:srgbClr val="444444"/>
                </a:solidFill>
              </a:rPr>
              <a:t>- </a:t>
            </a:r>
            <a:r>
              <a:rPr sz="1200" dirty="0">
                <a:solidFill>
                  <a:srgbClr val="444444"/>
                </a:solidFill>
              </a:rPr>
              <a:t>Live-</a:t>
            </a:r>
            <a:r>
              <a:rPr sz="1200" dirty="0" err="1">
                <a:solidFill>
                  <a:srgbClr val="444444"/>
                </a:solidFill>
              </a:rPr>
              <a:t>стримы</a:t>
            </a:r>
            <a:r>
              <a:rPr sz="1200" dirty="0">
                <a:solidFill>
                  <a:srgbClr val="444444"/>
                </a:solidFill>
              </a:rPr>
              <a:t>, B2B, </a:t>
            </a:r>
            <a:r>
              <a:rPr sz="1200" dirty="0" err="1">
                <a:solidFill>
                  <a:srgbClr val="444444"/>
                </a:solidFill>
              </a:rPr>
              <a:t>кошелек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lang="ru-RU" sz="1200" dirty="0">
                <a:solidFill>
                  <a:srgbClr val="444444"/>
                </a:solidFill>
              </a:rPr>
              <a:t>–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lang="ru-RU" sz="1200" dirty="0">
                <a:solidFill>
                  <a:srgbClr val="444444"/>
                </a:solidFill>
              </a:rPr>
              <a:t>в </a:t>
            </a:r>
            <a:r>
              <a:rPr sz="1200" dirty="0">
                <a:solidFill>
                  <a:srgbClr val="444444"/>
                </a:solidFill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23002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F3B5C"/>
                </a:solidFill>
              </a:rPr>
              <a:t>РЕШЕНИЯ, КОТОРЫЕ НУЖНЫ НА ЭТОЙ ВСТРЕЧЕ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786" y="5614182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 err="1">
                <a:solidFill>
                  <a:srgbClr val="444444"/>
                </a:solidFill>
              </a:rPr>
              <a:t>Инвестор</a:t>
            </a:r>
            <a:r>
              <a:rPr sz="1200" dirty="0">
                <a:solidFill>
                  <a:srgbClr val="444444"/>
                </a:solidFill>
              </a:rPr>
              <a:t>: </a:t>
            </a:r>
            <a:r>
              <a:rPr sz="1200" dirty="0" err="1">
                <a:solidFill>
                  <a:srgbClr val="444444"/>
                </a:solidFill>
              </a:rPr>
              <a:t>утвердить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дифференцированный</a:t>
            </a:r>
            <a:r>
              <a:rPr sz="1200" dirty="0">
                <a:solidFill>
                  <a:srgbClr val="444444"/>
                </a:solidFill>
              </a:rPr>
              <a:t> SLO 99,9% </a:t>
            </a:r>
            <a:r>
              <a:rPr sz="1200" dirty="0" err="1">
                <a:solidFill>
                  <a:srgbClr val="444444"/>
                </a:solidFill>
              </a:rPr>
              <a:t>на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контур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заказа</a:t>
            </a:r>
            <a:r>
              <a:rPr sz="1200" dirty="0">
                <a:solidFill>
                  <a:srgbClr val="444444"/>
                </a:solidFill>
              </a:rPr>
              <a:t> (99,99% </a:t>
            </a:r>
            <a:r>
              <a:rPr sz="1200" dirty="0" err="1">
                <a:solidFill>
                  <a:srgbClr val="444444"/>
                </a:solidFill>
              </a:rPr>
              <a:t>на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все</a:t>
            </a:r>
            <a:r>
              <a:rPr sz="1200" dirty="0">
                <a:solidFill>
                  <a:srgbClr val="444444"/>
                </a:solidFill>
              </a:rPr>
              <a:t> = x2,8 </a:t>
            </a:r>
            <a:r>
              <a:rPr sz="1200" dirty="0" err="1">
                <a:solidFill>
                  <a:srgbClr val="444444"/>
                </a:solidFill>
              </a:rPr>
              <a:t>к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бюджету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облака</a:t>
            </a:r>
            <a:r>
              <a:rPr sz="1200" dirty="0">
                <a:solidFill>
                  <a:srgbClr val="444444"/>
                </a:solidFill>
              </a:rPr>
              <a:t>)</a:t>
            </a:r>
          </a:p>
          <a:p>
            <a:r>
              <a:rPr sz="1200" dirty="0">
                <a:solidFill>
                  <a:srgbClr val="444444"/>
                </a:solidFill>
              </a:rPr>
              <a:t>CFO: </a:t>
            </a:r>
            <a:r>
              <a:rPr sz="1200" dirty="0" err="1">
                <a:solidFill>
                  <a:srgbClr val="444444"/>
                </a:solidFill>
              </a:rPr>
              <a:t>подтвердить</a:t>
            </a:r>
            <a:r>
              <a:rPr sz="1200" dirty="0">
                <a:solidFill>
                  <a:srgbClr val="444444"/>
                </a:solidFill>
              </a:rPr>
              <a:t> $2,5k/</a:t>
            </a:r>
            <a:r>
              <a:rPr sz="1200" dirty="0" err="1">
                <a:solidFill>
                  <a:srgbClr val="444444"/>
                </a:solidFill>
              </a:rPr>
              <a:t>мес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облако</a:t>
            </a:r>
            <a:r>
              <a:rPr sz="1200" dirty="0">
                <a:solidFill>
                  <a:srgbClr val="444444"/>
                </a:solidFill>
              </a:rPr>
              <a:t> + $</a:t>
            </a:r>
            <a:r>
              <a:rPr lang="ru-RU" sz="1200" dirty="0">
                <a:solidFill>
                  <a:srgbClr val="444444"/>
                </a:solidFill>
              </a:rPr>
              <a:t>0,5</a:t>
            </a:r>
            <a:r>
              <a:rPr sz="1200" dirty="0">
                <a:solidFill>
                  <a:srgbClr val="444444"/>
                </a:solidFill>
              </a:rPr>
              <a:t>M ФОТ </a:t>
            </a:r>
            <a:r>
              <a:rPr sz="1200" dirty="0" err="1">
                <a:solidFill>
                  <a:srgbClr val="444444"/>
                </a:solidFill>
              </a:rPr>
              <a:t>год</a:t>
            </a:r>
            <a:r>
              <a:rPr sz="1200" dirty="0">
                <a:solidFill>
                  <a:srgbClr val="444444"/>
                </a:solidFill>
              </a:rPr>
              <a:t> 1 (</a:t>
            </a:r>
            <a:r>
              <a:rPr lang="ru-RU" sz="1200" dirty="0">
                <a:solidFill>
                  <a:srgbClr val="444444"/>
                </a:solidFill>
              </a:rPr>
              <a:t>для </a:t>
            </a:r>
            <a:r>
              <a:rPr sz="1200" dirty="0">
                <a:solidFill>
                  <a:srgbClr val="444444"/>
                </a:solidFill>
              </a:rPr>
              <a:t>6 </a:t>
            </a:r>
            <a:r>
              <a:rPr sz="1200" dirty="0" err="1">
                <a:solidFill>
                  <a:srgbClr val="444444"/>
                </a:solidFill>
              </a:rPr>
              <a:t>контракторов</a:t>
            </a:r>
            <a:r>
              <a:rPr sz="1200" dirty="0">
                <a:solidFill>
                  <a:srgbClr val="444444"/>
                </a:solidFill>
              </a:rPr>
              <a:t>)</a:t>
            </a:r>
          </a:p>
          <a:p>
            <a:r>
              <a:rPr sz="1200" dirty="0">
                <a:solidFill>
                  <a:srgbClr val="444444"/>
                </a:solidFill>
              </a:rPr>
              <a:t>CTO: </a:t>
            </a:r>
            <a:r>
              <a:rPr sz="1200" dirty="0" err="1">
                <a:solidFill>
                  <a:srgbClr val="444444"/>
                </a:solidFill>
              </a:rPr>
              <a:t>принять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монолит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с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документированной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точкой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перехода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к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сервисам</a:t>
            </a:r>
            <a:r>
              <a:rPr lang="ru-RU" sz="1200" dirty="0">
                <a:solidFill>
                  <a:srgbClr val="444444"/>
                </a:solidFill>
              </a:rPr>
              <a:t>, выбор</a:t>
            </a:r>
            <a:r>
              <a:rPr sz="1200" dirty="0">
                <a:solidFill>
                  <a:srgbClr val="444444"/>
                </a:solidFill>
              </a:rPr>
              <a:t> Go</a:t>
            </a:r>
            <a:r>
              <a:rPr lang="ru-RU" sz="1200" dirty="0">
                <a:solidFill>
                  <a:srgbClr val="444444"/>
                </a:solidFill>
              </a:rPr>
              <a:t> как основного языка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сохраняем</a:t>
            </a:r>
            <a:endParaRPr sz="1200" dirty="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{981A306B-1B7F-6549-99B2-2BE7ED3467DD}TF32c2df6e-8a69-45fc-a64e-18d4d2b264c95f5a9df4-d4480b06357f</Template>
  <TotalTime>8</TotalTime>
  <Words>295</Words>
  <Application>Microsoft Macintosh PowerPoint</Application>
  <PresentationFormat>Широкоэкранный</PresentationFormat>
  <Paragraphs>24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3" baseType="lpstr">
      <vt:lpstr>Franklin Gothic Book</vt:lpstr>
      <vt:lpstr>Уголки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Povalikhin.go</cp:lastModifiedBy>
  <cp:revision>5</cp:revision>
  <dcterms:created xsi:type="dcterms:W3CDTF">2013-01-27T09:14:16Z</dcterms:created>
  <dcterms:modified xsi:type="dcterms:W3CDTF">2026-09-23T14:17:06Z</dcterms:modified>
  <cp:category/>
</cp:coreProperties>
</file>